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Actividad 1: Cambio Climático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Comprendiendo el sistema climático desde las ciencias físicas</a:t>
            </a:r>
          </a:p>
          <a:p>
            <a:pPr lvl="0"/>
            <a:r>
              <a:rPr b="1"/>
              <a:t>Propósito:</a:t>
            </a:r>
            <a:r>
              <a:rPr/>
              <a:t> Desarrollar un marco conceptual físico y sistémico para comprender el cambio climático global.</a:t>
            </a:r>
          </a:p>
          <a:p>
            <a:pPr lvl="0"/>
            <a:r>
              <a:rPr b="1"/>
              <a:t>Objetivos:</a:t>
            </a:r>
          </a:p>
          <a:p>
            <a:pPr lvl="1"/>
            <a:r>
              <a:rPr/>
              <a:t>Analizar datos científicos e históricos.</a:t>
            </a:r>
          </a:p>
          <a:p>
            <a:pPr lvl="1"/>
            <a:r>
              <a:rPr/>
              <a:t>Entender las relaciones entre las partes del sistema.</a:t>
            </a:r>
          </a:p>
          <a:p>
            <a:pPr lvl="1"/>
            <a:r>
              <a:rPr/>
              <a:t>Diferenciar evidencia científica de interpretación.</a:t>
            </a:r>
          </a:p>
          <a:p>
            <a:pPr lvl="0" indent="0" marL="1270000">
              <a:buNone/>
            </a:pPr>
            <a:r>
              <a:rPr sz="2000" b="1"/>
              <a:t>Imagen sugerida para esta diapositiva:</a:t>
            </a:r>
            <a:r>
              <a:rPr sz="2000"/>
              <a:t> Una fotografía global de la Tierra desde el espacio que muestre nubes, océanos y continentes (ej. la icónica “Canica Azul”), reflejando la idea de un sistema interconectado.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¿Tiempo Atmosférico o Clima?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 común escuchar: </a:t>
            </a:r>
            <a:r>
              <a:rPr i="1"/>
              <a:t>“¡El clima cambia todos los días!”</a:t>
            </a:r>
            <a:r>
              <a:rPr/>
              <a:t>. Sin embargo, en física y meteorología, debemos ser precisos:</a:t>
            </a:r>
          </a:p>
          <a:p>
            <a:pPr lvl="0"/>
            <a:r>
              <a:rPr b="1"/>
              <a:t>Tiempo Atmosférico:</a:t>
            </a:r>
            <a:r>
              <a:rPr/>
              <a:t> Condiciones meteorológicas en un </a:t>
            </a:r>
            <a:r>
              <a:rPr b="1"/>
              <a:t>momento y lugar específicos</a:t>
            </a:r>
            <a:r>
              <a:rPr/>
              <a:t>. Cambia a corto plazo (horas, días).</a:t>
            </a:r>
          </a:p>
          <a:p>
            <a:pPr lvl="0"/>
            <a:r>
              <a:rPr b="1"/>
              <a:t>Clima:</a:t>
            </a:r>
            <a:r>
              <a:rPr/>
              <a:t> Patrón a </a:t>
            </a:r>
            <a:r>
              <a:rPr b="1"/>
              <a:t>largo plazo</a:t>
            </a:r>
            <a:r>
              <a:rPr/>
              <a:t> de las condiciones atmosféricas en una región. Refleja la diversidad de estados del tiempo a lo largo de décadas.</a:t>
            </a:r>
          </a:p>
          <a:p>
            <a:pPr lvl="0" indent="0" marL="1270000">
              <a:buNone/>
            </a:pPr>
            <a:r>
              <a:rPr sz="2000" b="1"/>
              <a:t>Imagen sugerida:</a:t>
            </a:r>
            <a:r>
              <a:rPr sz="2000"/>
              <a:t> Un gráfico o infografía dividida en dos. A la izquierda, un pronóstico del tiempo de televisión (como el de Concepción/Chillán de la actividad); a la derecha, un mapa de las zonas climáticas de Chile.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Cambio Climático vs. Variabilidad Climática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Variabilidad Climática:</a:t>
            </a:r>
            <a:r>
              <a:rPr/>
              <a:t> Fluctuaciones naturales del clima que han ocurrido en distintas escalas de tiempo a lo largo de la historia de la Tierra.</a:t>
            </a:r>
          </a:p>
          <a:p>
            <a:pPr lvl="0"/>
            <a:r>
              <a:rPr b="1"/>
              <a:t>Cambio Climático (CMNUCC):</a:t>
            </a:r>
            <a:r>
              <a:rPr/>
              <a:t> Cambio de clima atribuido, directa o indirectamente, a la </a:t>
            </a:r>
            <a:r>
              <a:rPr b="1"/>
              <a:t>actividad humana</a:t>
            </a:r>
            <a:r>
              <a:rPr/>
              <a:t>, que altera la composición de la atmósfera global y se suma a la variabilidad natural.</a:t>
            </a:r>
          </a:p>
          <a:p>
            <a:pPr lvl="0" indent="0" marL="1270000">
              <a:buNone/>
            </a:pPr>
            <a:r>
              <a:rPr sz="2000" b="1"/>
              <a:t>Imagen sugerida:</a:t>
            </a:r>
            <a:r>
              <a:rPr sz="2000"/>
              <a:t> Un gráfico lineal que muestre las variaciones naturales de temperatura a lo largo de milenios (variabilidad), con el drástico aumento exponencial en el extremo derecho correspondiente a la era industrial (cambio climático).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 Clima como un “Sistema Complejo”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Para la física, el clima no es una sola variable, es un </a:t>
            </a:r>
            <a:r>
              <a:rPr b="1"/>
              <a:t>sistema complejo</a:t>
            </a:r>
            <a:r>
              <a:rPr/>
              <a:t>: * Está compuesto por múltiples </a:t>
            </a:r>
            <a:r>
              <a:rPr b="1"/>
              <a:t>subsistemas abiertos</a:t>
            </a:r>
            <a:r>
              <a:rPr/>
              <a:t>. * Evoluciona por su dinámica interna y por </a:t>
            </a:r>
            <a:r>
              <a:rPr b="1"/>
              <a:t>forzamientos externos</a:t>
            </a:r>
            <a:r>
              <a:rPr/>
              <a:t>: * Erupciones volcánicas. * Variaciones de la radiación solar. * Forzamientos antropogénicos (emisiones humanas).</a:t>
            </a:r>
          </a:p>
          <a:p>
            <a:pPr lvl="0" indent="0" marL="1270000">
              <a:buNone/>
            </a:pPr>
            <a:r>
              <a:rPr sz="2000" b="1"/>
              <a:t>Imagen sugerida:</a:t>
            </a:r>
            <a:r>
              <a:rPr sz="2000"/>
              <a:t> Un diagrama conceptual que muestre engranajes o redes interconectadas, representando cómo una perturbación externa (forzamiento) altera el movimiento de todo el sistema.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Los 5 Componentes del Sistema Climático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 sistema está formado por partes con diferentes propiedades físicas, composición y densidad:</a:t>
            </a:r>
          </a:p>
          <a:p>
            <a:pPr lvl="0" indent="-342900" marL="342900">
              <a:buAutoNum type="arabicPeriod"/>
            </a:pPr>
            <a:r>
              <a:rPr b="1"/>
              <a:t>Atmósfera:</a:t>
            </a:r>
            <a:r>
              <a:rPr/>
              <a:t> Capa de gases. </a:t>
            </a:r>
            <a:r>
              <a:rPr i="1"/>
              <a:t>Ojo físico: Tiene el menor tiempo de respuesta (días) debido a su baja densidad y bajo calor específico.</a:t>
            </a:r>
          </a:p>
          <a:p>
            <a:pPr lvl="0" indent="-342900" marL="342900">
              <a:buAutoNum type="arabicPeriod"/>
            </a:pPr>
            <a:r>
              <a:rPr b="1"/>
              <a:t>Hidrósfera:</a:t>
            </a:r>
            <a:r>
              <a:rPr/>
              <a:t> Océanos, lagos, ríos. (Alta capacidad calorífica, respuesta lenta).</a:t>
            </a:r>
          </a:p>
          <a:p>
            <a:pPr lvl="0" indent="-342900" marL="342900">
              <a:buAutoNum type="arabicPeriod"/>
            </a:pPr>
            <a:r>
              <a:rPr b="1"/>
              <a:t>Litósfera:</a:t>
            </a:r>
            <a:r>
              <a:rPr/>
              <a:t> Superficie terrestre, orografía.</a:t>
            </a:r>
          </a:p>
          <a:p>
            <a:pPr lvl="0" indent="-342900" marL="342900">
              <a:buAutoNum type="arabicPeriod"/>
            </a:pPr>
            <a:r>
              <a:rPr b="1"/>
              <a:t>Criósfera:</a:t>
            </a:r>
            <a:r>
              <a:rPr/>
              <a:t> Hielo marino, glaciares, nieve.</a:t>
            </a:r>
          </a:p>
          <a:p>
            <a:pPr lvl="0" indent="-342900" marL="342900">
              <a:buAutoNum type="arabicPeriod"/>
            </a:pPr>
            <a:r>
              <a:rPr b="1"/>
              <a:t>Biósfera:</a:t>
            </a:r>
            <a:r>
              <a:rPr/>
              <a:t> Ecosistemas, vegetación, seres vivos.</a:t>
            </a:r>
          </a:p>
          <a:p>
            <a:pPr lvl="0" indent="0" marL="1270000">
              <a:buNone/>
            </a:pPr>
            <a:r>
              <a:rPr sz="2000" b="1"/>
              <a:t>Imagen sugerida:</a:t>
            </a:r>
            <a:r>
              <a:rPr sz="2000"/>
              <a:t> El esquema oficial del IPCC sobre el Sistema Climático (presente en el documento de la actividad) que muestra las interacciones entre la atmósfera, tierra, biomasa, océanos e hielo.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Interacciones Físicas y Flujos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Los 5 componentes están interconectados transfiriendo constantemente:</a:t>
            </a:r>
          </a:p>
          <a:p>
            <a:pPr lvl="0"/>
            <a:r>
              <a:rPr b="1"/>
              <a:t>Flujos de Masa:</a:t>
            </a:r>
            <a:r>
              <a:rPr/>
              <a:t> Ej. La evaporación transfiere masa (agua) del océano a la atmósfera; la precipitación la devuelve.</a:t>
            </a:r>
          </a:p>
          <a:p>
            <a:pPr lvl="0"/>
            <a:r>
              <a:rPr b="1"/>
              <a:t>Flujos de Momento:</a:t>
            </a:r>
            <a:r>
              <a:rPr/>
              <a:t> Ej. El estrés y roce de los vientos atmosféricos dirigiendo las corrientes oceánicas superficiales.</a:t>
            </a:r>
          </a:p>
          <a:p>
            <a:pPr lvl="0"/>
            <a:r>
              <a:rPr b="1"/>
              <a:t>Flujos de Energía:</a:t>
            </a:r>
            <a:r>
              <a:rPr/>
              <a:t> Ej. La liberación de energía como calor latente cuando el vapor de agua se condensa en las nubes.</a:t>
            </a:r>
          </a:p>
          <a:p>
            <a:pPr lvl="0" indent="0" marL="1270000">
              <a:buNone/>
            </a:pPr>
            <a:r>
              <a:rPr sz="2000" b="1"/>
              <a:t>Imagen sugerida:</a:t>
            </a:r>
            <a:r>
              <a:rPr sz="2000"/>
              <a:t> Un acercamiento ilustrativo a la superficie del mar, mostrando flechas ascendentes y descendentes de agua (masa) y calor (energía), junto con flechas horizontales de viento (momento).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Interacciones No Lineales y Retroalimentación (Feedback)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Las interacciones en el clima son </a:t>
            </a:r>
            <a:r>
              <a:rPr b="1"/>
              <a:t>no lineales</a:t>
            </a:r>
            <a:r>
              <a:rPr/>
              <a:t>. Una perturbación puede ser inhibida o amplificada:</a:t>
            </a:r>
          </a:p>
          <a:p>
            <a:pPr lvl="0"/>
            <a:r>
              <a:rPr b="1"/>
              <a:t>Retroalimentación Negativa:</a:t>
            </a:r>
            <a:r>
              <a:rPr/>
              <a:t> Inhibe o frena la perturbación original.</a:t>
            </a:r>
          </a:p>
          <a:p>
            <a:pPr lvl="0"/>
            <a:r>
              <a:rPr b="1"/>
              <a:t>Retroalimentación Positiva:</a:t>
            </a:r>
            <a:r>
              <a:rPr/>
              <a:t> Amplifica la perturbación original.</a:t>
            </a:r>
          </a:p>
          <a:p>
            <a:pPr lvl="0" indent="0" marL="1270000">
              <a:buNone/>
            </a:pPr>
            <a:r>
              <a:rPr sz="2000" b="1"/>
              <a:t>Imagen sugerida:</a:t>
            </a:r>
            <a:r>
              <a:rPr sz="2000"/>
              <a:t> Un diagrama de flujo circular genérico de “Bucle de Retroalimentación” que muestre cómo la salida de un proceso alimenta de nuevo su propia entrada.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Ejemplo Físico: Retroalimentación Positiva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Analicemos qué ocurre si </a:t>
                </a:r>
                <a:r>
                  <a:rPr b="1"/>
                  <a:t>aumenta la temperatura del aire</a:t>
                </a:r>
                <a:r>
                  <a:rPr/>
                  <a:t>: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Sube la temperatura del aire.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Aumenta la evaporación de los océanos.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Sube la concentración de vapor de agua en la atmósfera.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El vapor de agua es un </a:t>
                </a:r>
                <a:r>
                  <a:rPr b="1"/>
                  <a:t>gas de efecto invernadero</a:t>
                </a:r>
                <a:r>
                  <a:rPr/>
                  <a:t>.</a:t>
                </a:r>
              </a:p>
              <a:p>
                <a:pPr lvl="0" indent="-342900" marL="342900">
                  <a:buAutoNum type="arabicPeriod"/>
                </a:pPr>
                <a:r>
                  <a:rPr i="1"/>
                  <a:t>Resultado:</a:t>
                </a:r>
                <a:r>
                  <a:rPr/>
                  <a:t> </a:t>
                </a:r>
                <a:r>
                  <a:rPr b="1"/>
                  <a:t>Aumenta aún más la temperatura del planeta</a:t>
                </a:r>
                <a:r>
                  <a:rPr/>
                  <a:t> (amplificando el forzamiento inicial).</a:t>
                </a:r>
              </a:p>
              <a:p>
                <a:pPr lvl="0" indent="0" marL="1270000">
                  <a:buNone/>
                </a:pPr>
                <a:r>
                  <a:rPr sz="2000" b="1"/>
                  <a:t>Imagen sugerida:</a:t>
                </a:r>
                <a:r>
                  <a:rPr sz="2000"/>
                  <a:t> Un esquema paso a paso del ciclo mencionado arriba (Temperatura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 sz="2000"/>
                  <a:t> Evaporación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 sz="2000"/>
                  <a:t> Vapor de Agua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 sz="2000"/>
                  <a:t> Mayor Temperatura). También puede incluirse al margen el concepto de “retroalimentación hielo-albedo”.</a:t>
                </a:r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Reflexión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Comprender el cambio climático es un desafío científico de alta complejidad.</a:t>
            </a:r>
          </a:p>
          <a:p>
            <a:pPr lvl="0" indent="0" marL="0">
              <a:buNone/>
            </a:pPr>
            <a:r>
              <a:rPr/>
              <a:t>Nos exige integrar conocimientos de diversas ramas de la física, ser críticos con las fuentes de información y entender que vivimos en un mundo donde </a:t>
            </a:r>
            <a:r>
              <a:rPr b="1"/>
              <a:t>cada variable alterada repercute en todo el sistema terrestre</a:t>
            </a:r>
            <a:r>
              <a:rPr/>
              <a:t>.</a:t>
            </a:r>
          </a:p>
          <a:p>
            <a:pPr lvl="0" indent="0" marL="1270000">
              <a:buNone/>
            </a:pPr>
            <a:r>
              <a:rPr sz="2000" b="1"/>
              <a:t>Imagen sugerida:</a:t>
            </a:r>
            <a:r>
              <a:rPr sz="2000"/>
              <a:t> Estudiantes analizando datos, o una imagen inspiradora sobre la observación científica del entorno natural que invite al pensamiento crítico.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2026-08-28T14:16:37Z</dcterms:created>
  <dcterms:modified xsi:type="dcterms:W3CDTF">2026-08-28T14:16:37Z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ooter">
    <vt:lpwstr>Actividad 1: ¿Cómo las ciencias físicas nos ayudan a comprender el cambio climático?</vt:lpwstr>
  </property>
  <property fmtid="{D5CDD505-2E9C-101B-9397-08002B2CF9AE}" pid="3" name="header">
    <vt:lpwstr>Física - Unidad 3</vt:lpwstr>
  </property>
  <property fmtid="{D5CDD505-2E9C-101B-9397-08002B2CF9AE}" pid="4" name="marp">
    <vt:lpwstr>True</vt:lpwstr>
  </property>
  <property fmtid="{D5CDD505-2E9C-101B-9397-08002B2CF9AE}" pid="5" name="paginate">
    <vt:lpwstr>True</vt:lpwstr>
  </property>
  <property fmtid="{D5CDD505-2E9C-101B-9397-08002B2CF9AE}" pid="6" name="size">
    <vt:lpwstr>16:9</vt:lpwstr>
  </property>
  <property fmtid="{D5CDD505-2E9C-101B-9397-08002B2CF9AE}" pid="7" name="style">
    <vt:lpwstr>h1 { color: #1e3799; } h2 { color: #0c2461; } strong { color: #e55039; }</vt:lpwstr>
  </property>
  <property fmtid="{D5CDD505-2E9C-101B-9397-08002B2CF9AE}" pid="8" name="theme">
    <vt:lpwstr>default</vt:lpwstr>
  </property>
</Properties>
</file>